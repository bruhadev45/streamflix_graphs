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3498DB"/>
            </a:solidFill>
            <a:ln w="38100" cap="flat">
              <a:solidFill>
                <a:srgbClr val="3498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98DB"/>
              </a:solidFill>
              <a:ln w="9525" cap="flat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-40</c:v>
                </c:pt>
                <c:pt idx="1">
                  <c:v>-75</c:v>
                </c:pt>
                <c:pt idx="2">
                  <c:v>-85</c:v>
                </c:pt>
                <c:pt idx="3">
                  <c:v>-35</c:v>
                </c:pt>
                <c:pt idx="4">
                  <c:v>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Licensed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-5</c:v>
                </c:pt>
                <c:pt idx="1">
                  <c:v>5</c:v>
                </c:pt>
                <c:pt idx="2">
                  <c:v>35</c:v>
                </c:pt>
                <c:pt idx="3">
                  <c:v>85</c:v>
                </c:pt>
                <c:pt idx="4">
                  <c:v>155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1ABC9C"/>
            </a:solidFill>
            <a:ln w="38100" cap="flat">
              <a:solidFill>
                <a:srgbClr val="1ABC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BC9C"/>
              </a:solidFill>
              <a:ln w="9525" cap="flat">
                <a:solidFill>
                  <a:srgbClr val="1ABC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-20</c:v>
                </c:pt>
                <c:pt idx="1">
                  <c:v>-25</c:v>
                </c:pt>
                <c:pt idx="2">
                  <c:v>5</c:v>
                </c:pt>
                <c:pt idx="3">
                  <c:v>55</c:v>
                </c:pt>
                <c:pt idx="4">
                  <c:v>120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Cumulative Return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11430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800" y="1663154"/>
            <a:ext cx="3737521" cy="956221"/>
          </a:xfrm>
          <a:prstGeom prst="rect">
            <a:avLst/>
          </a:prstGeom>
          <a:solidFill>
            <a:srgbClr val="3498D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663154"/>
            <a:ext cx="0" cy="956221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815554"/>
            <a:ext cx="33847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QUESTION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33400" y="2038350"/>
            <a:ext cx="33847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StreamFlix invest in </a:t>
            </a:r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content production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license more </a:t>
            </a:r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content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04800" y="2771775"/>
            <a:ext cx="3737521" cy="1051322"/>
          </a:xfrm>
          <a:prstGeom prst="rect">
            <a:avLst/>
          </a:prstGeom>
          <a:solidFill>
            <a:srgbClr val="1ABC9C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2771775"/>
            <a:ext cx="0" cy="1051322"/>
          </a:xfrm>
          <a:prstGeom prst="line">
            <a:avLst/>
          </a:prstGeom>
          <a:noFill/>
          <a:ln w="381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924175"/>
            <a:ext cx="33847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33400" y="3146971"/>
            <a:ext cx="338478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70/30 → 50/50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497461"/>
            <a:ext cx="33847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transition over 5 years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70921" y="1503313"/>
            <a:ext cx="4568279" cy="1083766"/>
          </a:xfrm>
          <a:prstGeom prst="roundRect">
            <a:avLst>
              <a:gd name="adj" fmla="val 10547"/>
            </a:avLst>
          </a:prstGeom>
          <a:solidFill>
            <a:srgbClr val="1E3A5F"/>
          </a:solidFill>
          <a:ln w="9525">
            <a:solidFill>
              <a:srgbClr val="2C52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53199" y="1703338"/>
            <a:ext cx="181011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453199" y="2240459"/>
            <a:ext cx="18101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RETURN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550372" y="1703338"/>
            <a:ext cx="9525" cy="571500"/>
          </a:xfrm>
          <a:prstGeom prst="rect">
            <a:avLst/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46951" y="1703338"/>
            <a:ext cx="181011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846951" y="2240459"/>
            <a:ext cx="18101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270921" y="2701379"/>
            <a:ext cx="4568279" cy="1281708"/>
          </a:xfrm>
          <a:prstGeom prst="roundRect">
            <a:avLst>
              <a:gd name="adj" fmla="val 8918"/>
            </a:avLst>
          </a:prstGeom>
          <a:solidFill>
            <a:srgbClr val="1E3A5F"/>
          </a:solidFill>
          <a:ln w="9525">
            <a:solidFill>
              <a:srgbClr val="2C52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70946" y="2863304"/>
            <a:ext cx="42515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TRACKING METRIC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470946" y="3105150"/>
            <a:ext cx="425159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Content-Attributed Customer Acquisition Cost (CAC)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70946" y="3661172"/>
            <a:ext cx="42515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efficiency of content investment in driving subscriber growth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StreamFlix | January 2025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85800"/>
            <a:ext cx="1143000" cy="38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800" y="1337370"/>
            <a:ext cx="2019300" cy="1973461"/>
          </a:xfrm>
          <a:prstGeom prst="roundRect">
            <a:avLst>
              <a:gd name="adj" fmla="val 579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356420"/>
            <a:ext cx="20193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56597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3498D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2137470"/>
            <a:ext cx="167106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Trend Toward Originals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5300" y="2605980"/>
            <a:ext cx="16710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Netflix, Disney+, Apple TV+ investing billions in exclusive content production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76500" y="1430685"/>
            <a:ext cx="2019300" cy="1786830"/>
          </a:xfrm>
          <a:prstGeom prst="roundRect">
            <a:avLst>
              <a:gd name="adj" fmla="val 639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76500" y="1449735"/>
            <a:ext cx="20193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7000" y="165928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74C3C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67000" y="2230785"/>
            <a:ext cx="16710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Licensing Costs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67000" y="2512665"/>
            <a:ext cx="16710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bidding up prices, creating margin pressure across the industry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8200" y="1337370"/>
            <a:ext cx="2019300" cy="1973461"/>
          </a:xfrm>
          <a:prstGeom prst="roundRect">
            <a:avLst>
              <a:gd name="adj" fmla="val 579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8200" y="1356420"/>
            <a:ext cx="2019300" cy="0"/>
          </a:xfrm>
          <a:prstGeom prst="line">
            <a:avLst/>
          </a:prstGeom>
          <a:noFill/>
          <a:ln w="381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8700" y="156597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ABC9C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38700" y="2137470"/>
            <a:ext cx="167106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Users Value Exclusives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8700" y="2605980"/>
            <a:ext cx="16710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research shows exclusive content is a key factor in subscription decisions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19900" y="1337370"/>
            <a:ext cx="2019300" cy="1973461"/>
          </a:xfrm>
          <a:prstGeom prst="roundRect">
            <a:avLst>
              <a:gd name="adj" fmla="val 579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819900" y="1356420"/>
            <a:ext cx="201930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0400" y="156597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9C12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10400" y="2137470"/>
            <a:ext cx="167106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Opportunity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10400" y="2605980"/>
            <a:ext cx="16710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Increasingly crowded market demands unique positioning and content strategy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4800" y="3771900"/>
            <a:ext cx="8534400" cy="704850"/>
          </a:xfrm>
          <a:prstGeom prst="roundRect">
            <a:avLst>
              <a:gd name="adj" fmla="val 16216"/>
            </a:avLst>
          </a:prstGeom>
          <a:solidFill>
            <a:srgbClr val="3498DB">
              <a:alpha val="10000"/>
            </a:srgbClr>
          </a:solidFill>
          <a:ln w="9525">
            <a:solidFill>
              <a:srgbClr val="2C52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2925" y="393382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3425" y="3938588"/>
            <a:ext cx="56337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733425" y="4149923"/>
            <a:ext cx="56337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streaming landscape is shifting toward original content as a competitive necessity, not just a differentiator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Industry analysis, user research surveys | StreamFlix 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85800"/>
            <a:ext cx="1143000" cy="381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800" y="1427857"/>
            <a:ext cx="4584055" cy="794296"/>
          </a:xfrm>
          <a:prstGeom prst="roundRect">
            <a:avLst>
              <a:gd name="adj" fmla="val 1439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427857"/>
            <a:ext cx="0" cy="79429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580257"/>
            <a:ext cx="2156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CONTENT STRATEGY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33400" y="1803053"/>
            <a:ext cx="2156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$85M Return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47940" y="1652588"/>
            <a:ext cx="12504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</a:t>
            </a:r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47940" y="1850678"/>
            <a:ext cx="12504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Longer payback period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04800" y="2336453"/>
            <a:ext cx="4584055" cy="794296"/>
          </a:xfrm>
          <a:prstGeom prst="roundRect">
            <a:avLst>
              <a:gd name="adj" fmla="val 1439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3850" y="2336453"/>
            <a:ext cx="0" cy="794296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2488853"/>
            <a:ext cx="21761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CONTENT STRATEGY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3400" y="2711648"/>
            <a:ext cx="2176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$155M Return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1506" y="2561183"/>
            <a:ext cx="13668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</a:t>
            </a:r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1506" y="2759273"/>
            <a:ext cx="13668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Weaker competitive moat</a:t>
            </a:r>
            <a:endParaRPr lang="en-US" sz="825" dirty="0"/>
          </a:p>
        </p:txBody>
      </p:sp>
      <p:pic>
        <p:nvPicPr>
          <p:cNvPr id="16" name="Image 0" descr="/tmp/rasterized-gradient-209303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245048"/>
            <a:ext cx="4584055" cy="8323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4350" y="3416498"/>
            <a:ext cx="13049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STRATEGY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14350" y="3639294"/>
            <a:ext cx="22426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 Return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597697" y="3488829"/>
            <a:ext cx="10816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</a:t>
            </a:r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597697" y="3686919"/>
            <a:ext cx="10816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Balanced risk profile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079355" y="1079450"/>
            <a:ext cx="3759845" cy="3346549"/>
          </a:xfrm>
          <a:prstGeom prst="roundRect">
            <a:avLst>
              <a:gd name="adj" fmla="val 3415"/>
            </a:avLst>
          </a:prstGeom>
          <a:solidFill>
            <a:srgbClr val="1E3A5F"/>
          </a:solidFill>
          <a:ln w="9525">
            <a:solidFill>
              <a:srgbClr val="2C52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279380" y="1279475"/>
            <a:ext cx="34269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PROJECTIONS COMPARISON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based on industry benchmarks and competitive analysis | All figures in USD</a:t>
            </a:r>
            <a:endParaRPr lang="en-US" sz="7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279380" y="1706166"/>
          <a:ext cx="3359795" cy="25198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85800"/>
            <a:ext cx="1143000" cy="38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800" y="1272778"/>
            <a:ext cx="4171950" cy="1759744"/>
          </a:xfrm>
          <a:prstGeom prst="roundRect">
            <a:avLst>
              <a:gd name="adj" fmla="val 649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291828"/>
            <a:ext cx="417195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50137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74C3C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5350" y="1560463"/>
            <a:ext cx="14662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Content Risks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556" y="1958578"/>
            <a:ext cx="371860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Hit-or-miss nature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Only 20-30% of productions become profitable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40556" y="2400300"/>
            <a:ext cx="3425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delays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Creative projects often miss deadlines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40556" y="2668786"/>
            <a:ext cx="34468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overruns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Budgets frequently exceed initial estimates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667250" y="1359396"/>
            <a:ext cx="4171950" cy="1586508"/>
          </a:xfrm>
          <a:prstGeom prst="roundRect">
            <a:avLst>
              <a:gd name="adj" fmla="val 720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7250" y="1378446"/>
            <a:ext cx="417195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7750" y="158799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39C12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57800" y="1647081"/>
            <a:ext cx="15418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Content Risks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03006" y="2045196"/>
            <a:ext cx="34467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titles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Content owners may not renew or pull rights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003006" y="2313682"/>
            <a:ext cx="34329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costs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Competitive bidding drives prices higher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003006" y="2582168"/>
            <a:ext cx="31490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Commoditization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differentiation from competitors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04800" y="3429000"/>
            <a:ext cx="4171950" cy="1047750"/>
          </a:xfrm>
          <a:prstGeom prst="roundRect">
            <a:avLst>
              <a:gd name="adj" fmla="val 10909"/>
            </a:avLst>
          </a:prstGeom>
          <a:solidFill>
            <a:srgbClr val="1ABC9C">
              <a:alpha val="10000"/>
            </a:srgbClr>
          </a:solidFill>
          <a:ln w="9525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4825" y="35909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66775" y="3637657"/>
            <a:ext cx="11016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Mitigations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04825" y="3971925"/>
            <a:ext cx="384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Diversified portfolio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approach with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content selection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reduces exposure to individual project failures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7250" y="3429000"/>
            <a:ext cx="4171950" cy="1047750"/>
          </a:xfrm>
          <a:prstGeom prst="roundRect">
            <a:avLst>
              <a:gd name="adj" fmla="val 10909"/>
            </a:avLst>
          </a:prstGeom>
          <a:solidFill>
            <a:srgbClr val="3498DB">
              <a:alpha val="10000"/>
            </a:srgbClr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67275" y="35909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29225" y="3637657"/>
            <a:ext cx="7649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67275" y="3971925"/>
            <a:ext cx="384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Reallocation flexibility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Ability to shift budget allocation quarterly based on early performance signals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based on industry benchmarks and historical performance data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4982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85800"/>
            <a:ext cx="11430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800" y="1155650"/>
            <a:ext cx="3962400" cy="2152204"/>
          </a:xfrm>
          <a:prstGeom prst="roundRect">
            <a:avLst>
              <a:gd name="adj" fmla="val 531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gradient-9b37dc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34615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1375767"/>
            <a:ext cx="682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66800" y="1560463"/>
            <a:ext cx="6828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1-2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5300" y="2013793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8650" y="1955750"/>
            <a:ext cx="14951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</a:t>
            </a:r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original pilots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495300" y="2282279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8650" y="2224236"/>
            <a:ext cx="15162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</a:t>
            </a:r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catalog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95300" y="255076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8650" y="2492722"/>
            <a:ext cx="15657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production capabilities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95300" y="2780258"/>
            <a:ext cx="3581400" cy="337096"/>
          </a:xfrm>
          <a:prstGeom prst="roundRect">
            <a:avLst>
              <a:gd name="adj" fmla="val 22605"/>
            </a:avLst>
          </a:prstGeom>
          <a:solidFill>
            <a:srgbClr val="3498D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56641" y="2875508"/>
            <a:ext cx="34587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Licensed / 30% Original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457700" y="2071688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876800" y="1155650"/>
            <a:ext cx="3962400" cy="2152204"/>
          </a:xfrm>
          <a:prstGeom prst="roundRect">
            <a:avLst>
              <a:gd name="adj" fmla="val 531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1" descr="/tmp/rasterized-gradient-058e9a0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134615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38800" y="1375767"/>
            <a:ext cx="682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5638800" y="1560463"/>
            <a:ext cx="6828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3-5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067300" y="2013793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200650" y="1955750"/>
            <a:ext cx="15795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successful originals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5067300" y="2282279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200650" y="2224236"/>
            <a:ext cx="18886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underperforming licenses</a:t>
            </a:r>
            <a:endParaRPr lang="en-US" sz="975" dirty="0"/>
          </a:p>
        </p:txBody>
      </p:sp>
      <p:sp>
        <p:nvSpPr>
          <p:cNvPr id="25" name="Text 21"/>
          <p:cNvSpPr/>
          <p:nvPr/>
        </p:nvSpPr>
        <p:spPr>
          <a:xfrm>
            <a:off x="5067300" y="255076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200650" y="2492722"/>
            <a:ext cx="14605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content studio brand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5067300" y="2780258"/>
            <a:ext cx="3581400" cy="337096"/>
          </a:xfrm>
          <a:prstGeom prst="roundRect">
            <a:avLst>
              <a:gd name="adj" fmla="val 22605"/>
            </a:avLst>
          </a:prstGeom>
          <a:solidFill>
            <a:srgbClr val="1ABC9C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128641" y="2875508"/>
            <a:ext cx="34587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Licensed / 50% Original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304800" y="3598664"/>
            <a:ext cx="4191000" cy="866626"/>
          </a:xfrm>
          <a:prstGeom prst="roundRect">
            <a:avLst>
              <a:gd name="adj" fmla="val 1318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6"/>
          <p:cNvSpPr/>
          <p:nvPr/>
        </p:nvSpPr>
        <p:spPr>
          <a:xfrm>
            <a:off x="323850" y="3598664"/>
            <a:ext cx="0" cy="866626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33400" y="375106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659606" y="3992910"/>
            <a:ext cx="5839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ROI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586954" y="3992910"/>
            <a:ext cx="13748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growth by content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3289697" y="3992910"/>
            <a:ext cx="10359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by content type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648200" y="3587204"/>
            <a:ext cx="4191000" cy="889546"/>
          </a:xfrm>
          <a:prstGeom prst="roundRect">
            <a:avLst>
              <a:gd name="adj" fmla="val 1284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4667250" y="3587204"/>
            <a:ext cx="0" cy="889546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876800" y="373960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GATES</a:t>
            </a:r>
            <a:endParaRPr lang="en-US" sz="825" dirty="0"/>
          </a:p>
        </p:txBody>
      </p:sp>
      <p:sp>
        <p:nvSpPr>
          <p:cNvPr id="38" name="Text 34"/>
          <p:cNvSpPr/>
          <p:nvPr/>
        </p:nvSpPr>
        <p:spPr>
          <a:xfrm>
            <a:off x="4876800" y="3981450"/>
            <a:ext cx="384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reviews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budget reallocation authority based on performance data and market conditions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 subject to market conditions and early performance indicators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StreamFlix Content Strategy</dc:title>
  <dc:subject>Original vs Licensed Content Investment Decision</dc:subject>
  <dc:creator>StreamFlix Strategy Team</dc:creator>
  <cp:lastModifiedBy>StreamFlix Strategy Team</cp:lastModifiedBy>
  <cp:revision>1</cp:revision>
  <dcterms:created xsi:type="dcterms:W3CDTF">2026-01-13T06:15:14Z</dcterms:created>
  <dcterms:modified xsi:type="dcterms:W3CDTF">2026-01-13T06:15:14Z</dcterms:modified>
</cp:coreProperties>
</file>